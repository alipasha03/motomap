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71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4343-59A5-345B-9C00-94E4DAF13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0BE12-8683-744C-D860-9FD2D6207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C776A-287A-0E5B-DF4C-113BA598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D3456-E5E2-6A4C-CDDA-B0E66DC5D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6BA2A-92B8-B948-0504-8CF46CF1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71FB-6E1E-5357-A82D-3121BEE7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1D43-00EE-A6CF-ABE6-B299199F2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B748B-F65F-FF5C-817A-615C0461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005F7-CE36-1A26-9C3B-3B974DC6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601E5-A552-F5E8-E7A5-8B9B769F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6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4B93-6682-2A2F-CF09-C492D6DA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C2E93-DEB9-C16D-7C06-05DCE15F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AE1EA-D65D-6EED-EC62-B7625C134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6BE47-A46B-A64C-3D01-C4CA2113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4F5B9-9FD9-BB56-A677-6ECBA2827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56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88006-CA81-6454-6824-5F823A9A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2896D-2406-E650-D9A9-073A09FE5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E9878-2D36-3AB1-1A75-78EE5089B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0F334-918B-9C75-7AE2-3F4C82EB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5747B-F59A-CBF5-CCBC-F60FF78C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68509-FA44-936C-EF0D-9039A6DB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5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67E7-B9E0-A3E6-265C-8B5EBF9B8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3E297-715A-7AB3-9E63-562FCD39B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EBEC1-ADB3-7F7C-CDB9-80E29A84B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002990-52DB-D54A-8D4A-0F480BC4B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C14F6-F827-FADC-97C3-8CB9B9AA4C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68D41-E172-FA1B-58CB-5D3C5FBB8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579B9-0881-693E-71CE-CB052CA4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71842D-1ED6-50AC-CE37-632767A7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03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AA436-BC89-4DAE-4FC4-939EEA3ED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3008E-E668-14B0-B1D3-A4E7D9068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48C1A-1F96-558C-2CFB-6E591B74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9F358-839E-0963-15EE-E296C834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6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9DAEF2-4743-2687-2E1D-68A185107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B0BF08-1FCF-7A44-49BC-A34C061B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57CA8-EFD5-898C-5AD3-9E07661B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5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D162-8C34-5E6B-00A7-5643B7E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AD3E2-3FEC-8811-BC5B-1CA4E31D6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D0FB8-4B6C-C4BD-FD4A-062270854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CB792-B0BE-4429-6E32-71A7968E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02082-A970-4420-07E5-8E70CE228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D58BF-193A-12CD-9B22-73CEC356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4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724A8-58C4-A5CB-FC8F-FA98EA85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54920-7DAC-F2B7-B962-18AA818361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E4013-12DD-E036-9744-B3B8C01AE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F00CC-FF40-7A09-00CE-C1D0427B2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8B3AF-7C02-3066-C3D6-95FE27B68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18F33-3275-9D8A-83C9-A9F8145C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6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D9337-854D-CCB0-90D9-FD65E128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4DA5C9-E46D-7E00-378D-3B48ACFC9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EDA56-4CEC-A526-BF58-37379CE67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82E87-0A8E-2676-91B8-C7B2D78C7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11F62-A4C8-4CCB-C01A-FCC7E53C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38E97-2E0B-E2A5-1E25-7D3F7B32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6D23C-1A45-F2D5-BD70-6A49EE36E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33B4D-573B-FD96-E67E-13C9D101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9940A-8A66-ED0E-CA0F-4AD2A924F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D62DB-E18B-8D2E-3D57-9D44D7A4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8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72A"/>
            </a:gs>
            <a:gs pos="100000">
              <a:srgbClr val="1E293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C4CD6-D74E-214D-F168-D4FC58794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3103-775E-03DF-2EFD-77D1B7368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37407-348F-7FA3-96ED-982DCC7C7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F1BA6-65B0-4947-AAEE-E8AECD41522C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26519-0A04-3731-90C4-130750557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779BE-7FC3-5B5F-8F68-235E2BE33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80FCF-3529-414C-8EA7-212928EF8C80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Line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3B82F6"/>
              </a:gs>
              <a:gs pos="50000">
                <a:srgbClr val="06B6D4"/>
              </a:gs>
              <a:gs pos="100000">
                <a:srgbClr val="10B981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DecoCircle"/>
          <p:cNvSpPr/>
          <p:nvPr/>
        </p:nvSpPr>
        <p:spPr>
          <a:xfrm>
            <a:off x="10500000" y="-400000"/>
            <a:ext cx="2000000" cy="2000000"/>
          </a:xfrm>
          <a:prstGeom prst="ellipse">
            <a:avLst/>
          </a:prstGeom>
          <a:solidFill>
            <a:srgbClr val="3B82F6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4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4F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BD5E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BD5E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BD5E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CBD5E1"/>
          </a:solidFill>
        </a:defRPr>
      </a:defPPr>
      <a:lvl1pPr marL="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BD5E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C2E2B0-739B-4656-ADB1-C52C96DFF789}"/>
              </a:ext>
            </a:extLst>
          </p:cNvPr>
          <p:cNvSpPr txBox="1"/>
          <p:nvPr/>
        </p:nvSpPr>
        <p:spPr>
          <a:xfrm>
            <a:off x="762000" y="1270000"/>
            <a:ext cx="1066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>
                <a:solidFill>
                  <a:srgbClr val="3B82F6"/>
                </a:solidFill>
                <a:latin typeface="Montserrat"/>
              </a:rPr>
              <a:t>MOTOMAP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3BFEF-50CE-4E19-B358-8A3079BFE611}"/>
              </a:ext>
            </a:extLst>
          </p:cNvPr>
          <p:cNvSpPr txBox="1"/>
          <p:nvPr/>
        </p:nvSpPr>
        <p:spPr>
          <a:xfrm>
            <a:off x="762000" y="2667000"/>
            <a:ext cx="6985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>
                <a:solidFill>
                  <a:srgbClr val="CBD5E1"/>
                </a:solidFill>
                <a:latin typeface="Segoe UI"/>
                <a:cs typeface="Segoe UI"/>
              </a:rPr>
              <a:t>Motosiklet Ulaşımında Dijital İkiz ve
Akıllı Rota Ekosistemi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34A2E-9A20-42EA-A327-724C26779EC8}"/>
              </a:ext>
            </a:extLst>
          </p:cNvPr>
          <p:cNvSpPr txBox="1"/>
          <p:nvPr/>
        </p:nvSpPr>
        <p:spPr>
          <a:xfrm>
            <a:off x="762000" y="3937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  <a:latin typeface="Segoe UI"/>
                <a:cs typeface="Segoe UI"/>
              </a:rPr>
              <a:t>TÜBİTAK 1812 BİGG — Akıllı Ulaşım ve Karar Destek Platformu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C26F53-832A-406A-8747-37340CA3C477}"/>
              </a:ext>
            </a:extLst>
          </p:cNvPr>
          <p:cNvSpPr/>
          <p:nvPr/>
        </p:nvSpPr>
        <p:spPr>
          <a:xfrm>
            <a:off x="7874000" y="1016000"/>
            <a:ext cx="3810000" cy="4318000"/>
          </a:xfrm>
          <a:prstGeom prst="roundRect">
            <a:avLst/>
          </a:prstGeom>
          <a:solidFill>
            <a:srgbClr val="1E293B"/>
          </a:solidFill>
          <a:ln w="2540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AD0424-4718-4EFD-8CF3-DE2EDCB539A8}"/>
              </a:ext>
            </a:extLst>
          </p:cNvPr>
          <p:cNvSpPr/>
          <p:nvPr/>
        </p:nvSpPr>
        <p:spPr>
          <a:xfrm>
            <a:off x="762000" y="5334000"/>
            <a:ext cx="2019300" cy="406400"/>
          </a:xfrm>
          <a:prstGeom prst="round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Algoritmik Zeka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DF1A77-9375-4D40-B8CE-78B00BB19840}"/>
              </a:ext>
            </a:extLst>
          </p:cNvPr>
          <p:cNvSpPr/>
          <p:nvPr/>
        </p:nvSpPr>
        <p:spPr>
          <a:xfrm>
            <a:off x="2908300" y="5334000"/>
            <a:ext cx="1676400" cy="406400"/>
          </a:xfrm>
          <a:prstGeom prst="roundRect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Mekanik Uyum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22112B-319D-416F-99A2-48B2E2922DB4}"/>
              </a:ext>
            </a:extLst>
          </p:cNvPr>
          <p:cNvSpPr/>
          <p:nvPr/>
        </p:nvSpPr>
        <p:spPr>
          <a:xfrm>
            <a:off x="4711700" y="5334000"/>
            <a:ext cx="2133600" cy="4064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Sosyal Ekosistem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13F03D-B233-407E-8EEC-0C45141340DE}"/>
              </a:ext>
            </a:extLst>
          </p:cNvPr>
          <p:cNvSpPr/>
          <p:nvPr/>
        </p:nvSpPr>
        <p:spPr>
          <a:xfrm>
            <a:off x="6972300" y="5334000"/>
            <a:ext cx="876300" cy="406400"/>
          </a:xfrm>
          <a:prstGeom prst="round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TRL 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63F4AC-3316-4274-81FC-25D36C0CAA56}"/>
              </a:ext>
            </a:extLst>
          </p:cNvPr>
          <p:cNvSpPr/>
          <p:nvPr/>
        </p:nvSpPr>
        <p:spPr>
          <a:xfrm>
            <a:off x="7975600" y="5334000"/>
            <a:ext cx="2019300" cy="406400"/>
          </a:xfrm>
          <a:prstGeom prst="round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AŞAMA GÖSTERİMİ</a:t>
            </a:r>
          </a:p>
        </p:txBody>
      </p:sp>
      <p:pic>
        <p:nvPicPr>
          <p:cNvPr id="11" name="Graphic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0" y="1651000"/>
            <a:ext cx="1143000" cy="1143000"/>
          </a:xfrm>
          <a:prstGeom prst="rect">
            <a:avLst/>
          </a:prstGeom>
        </p:spPr>
      </p:pic>
      <p:pic>
        <p:nvPicPr>
          <p:cNvPr id="12" name="Graphic 12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7000" y="1651000"/>
            <a:ext cx="1016000" cy="1016000"/>
          </a:xfrm>
          <a:prstGeom prst="rect">
            <a:avLst/>
          </a:prstGeom>
        </p:spPr>
      </p:pic>
      <p:pic>
        <p:nvPicPr>
          <p:cNvPr id="13" name="Graphic 1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4500" y="317500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602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Bar"/>
          <p:cNvSpPr/>
          <p:nvPr/>
        </p:nvSpPr>
        <p:spPr>
          <a:xfrm>
            <a:off x="355600" y="228600"/>
            <a:ext cx="76200" cy="787400"/>
          </a:xfrm>
          <a:prstGeom prst="rect">
            <a:avLst/>
          </a:prstGeom>
          <a:solidFill>
            <a:srgbClr val="E877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"/>
          <p:cNvSpPr/>
          <p:nvPr/>
        </p:nvSpPr>
        <p:spPr>
          <a:xfrm>
            <a:off x="508000" y="228600"/>
            <a:ext cx="60960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tr-TR" sz="2800" b="1" dirty="0">
                <a:solidFill>
                  <a:srgbClr val="1A2332"/>
                </a:solidFill>
                <a:latin typeface="Montserrat"/>
              </a:rPr>
              <a:t>Otomobil Odaklı</a:t>
            </a:r>
          </a:p>
          <a:p>
            <a:pPr>
              <a:buNone/>
            </a:pPr>
            <a:r>
              <a:rPr lang="tr-TR" sz="2800" b="1" dirty="0">
                <a:solidFill>
                  <a:srgbClr val="1A2332"/>
                </a:solidFill>
                <a:latin typeface="Montserrat"/>
              </a:rPr>
              <a:t>Navigasyon Yanılgısı</a:t>
            </a:r>
          </a:p>
        </p:txBody>
      </p:sp>
      <p:sp>
        <p:nvSpPr>
          <p:cNvPr id="22" name="LeftHeader"/>
          <p:cNvSpPr/>
          <p:nvPr/>
        </p:nvSpPr>
        <p:spPr>
          <a:xfrm>
            <a:off x="355600" y="1117600"/>
            <a:ext cx="5651500" cy="330200"/>
          </a:xfrm>
          <a:prstGeom prst="rect">
            <a:avLst/>
          </a:prstGeom>
          <a:solidFill>
            <a:srgbClr val="E87722"/>
          </a:solidFill>
          <a:ln w="0">
            <a:noFill/>
          </a:ln>
        </p:spPr>
        <p:txBody>
          <a:bodyPr wrap="square" lIns="137160" tIns="0" rIns="91440" bIns="0" anchor="ctr"/>
          <a:lstStyle/>
          <a:p>
            <a:pPr>
              <a:buNone/>
            </a:pPr>
            <a:r>
              <a:rPr lang="tr-TR" sz="1600" b="0" dirty="0">
                <a:solidFill>
                  <a:srgbClr val="FFFFFF"/>
                </a:solidFill>
                <a:latin typeface="Segoe UI"/>
              </a:rPr>
              <a:t>Google Maps / Yandex Algısı: 4 Tekerlekli Kutu</a:t>
            </a:r>
          </a:p>
        </p:txBody>
      </p:sp>
      <p:sp>
        <p:nvSpPr>
          <p:cNvPr id="23" name="LeftImage"/>
          <p:cNvSpPr/>
          <p:nvPr/>
        </p:nvSpPr>
        <p:spPr>
          <a:xfrm>
            <a:off x="355600" y="1447800"/>
            <a:ext cx="5651500" cy="3403600"/>
          </a:xfrm>
          <a:prstGeom prst="rect">
            <a:avLst/>
          </a:prstGeom>
          <a:solidFill>
            <a:srgbClr val="C8D5DE"/>
          </a:solidFill>
          <a:ln w="12700">
            <a:solidFill>
              <a:srgbClr val="9AABB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400" dirty="0">
                <a:solidFill>
                  <a:srgbClr val="6B7F8E"/>
                </a:solidFill>
                <a:latin typeface="Segoe UI"/>
              </a:rPr>
              <a:t>[Trafik Görseli: Otomobil kilitli,</a:t>
            </a:r>
          </a:p>
          <a:p>
            <a:pPr algn="ctr">
              <a:buNone/>
            </a:pPr>
            <a:r>
              <a:rPr lang="tr-TR" sz="1400" dirty="0">
                <a:solidFill>
                  <a:srgbClr val="6B7F8E"/>
                </a:solidFill>
                <a:latin typeface="Segoe UI"/>
              </a:rPr>
              <a:t>motosiklet için hesaplanmamış rota]</a:t>
            </a:r>
          </a:p>
        </p:txBody>
      </p:sp>
      <p:sp>
        <p:nvSpPr>
          <p:cNvPr id="24" name="LockedBadge"/>
          <p:cNvSpPr/>
          <p:nvPr/>
        </p:nvSpPr>
        <p:spPr>
          <a:xfrm>
            <a:off x="508000" y="4419600"/>
            <a:ext cx="762000" cy="254000"/>
          </a:xfrm>
          <a:prstGeom prst="roundRect">
            <a:avLst/>
          </a:prstGeom>
          <a:solidFill>
            <a:srgbClr val="E87722"/>
          </a:solidFill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</a:rPr>
              <a:t>Locked</a:t>
            </a:r>
          </a:p>
        </p:txBody>
      </p:sp>
      <p:sp>
        <p:nvSpPr>
          <p:cNvPr id="25" name="Divider"/>
          <p:cNvSpPr/>
          <p:nvPr/>
        </p:nvSpPr>
        <p:spPr>
          <a:xfrm>
            <a:off x="6070600" y="1117600"/>
            <a:ext cx="38100" cy="3733800"/>
          </a:xfrm>
          <a:prstGeom prst="rect">
            <a:avLst/>
          </a:prstGeom>
          <a:solidFill>
            <a:srgbClr val="4A90D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ightHeader"/>
          <p:cNvSpPr/>
          <p:nvPr/>
        </p:nvSpPr>
        <p:spPr>
          <a:xfrm>
            <a:off x="6223000" y="1117600"/>
            <a:ext cx="5651500" cy="330200"/>
          </a:xfrm>
          <a:prstGeom prst="rect">
            <a:avLst/>
          </a:prstGeom>
          <a:solidFill>
            <a:srgbClr val="2D7DD2"/>
          </a:solidFill>
          <a:ln w="0">
            <a:noFill/>
          </a:ln>
        </p:spPr>
        <p:txBody>
          <a:bodyPr wrap="square" lIns="137160" tIns="0" rIns="91440" bIns="0" anchor="ctr"/>
          <a:lstStyle/>
          <a:p>
            <a:pPr>
              <a:buNone/>
            </a:pPr>
            <a:r>
              <a:rPr lang="tr-TR" sz="1600" b="0" dirty="0">
                <a:solidFill>
                  <a:srgbClr val="FFFFFF"/>
                </a:solidFill>
                <a:latin typeface="Segoe UI"/>
              </a:rPr>
              <a:t>Gerçeklik: Dinamik Şerit Filtreleme</a:t>
            </a:r>
          </a:p>
        </p:txBody>
      </p:sp>
      <p:sp>
        <p:nvSpPr>
          <p:cNvPr id="27" name="RightImage"/>
          <p:cNvSpPr/>
          <p:nvPr/>
        </p:nvSpPr>
        <p:spPr>
          <a:xfrm>
            <a:off x="6223000" y="1447800"/>
            <a:ext cx="5651500" cy="3403600"/>
          </a:xfrm>
          <a:prstGeom prst="rect">
            <a:avLst/>
          </a:prstGeom>
          <a:solidFill>
            <a:srgbClr val="C8D5DE"/>
          </a:solidFill>
          <a:ln w="12700">
            <a:solidFill>
              <a:srgbClr val="9AABB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tr-TR" sz="1400" dirty="0">
                <a:solidFill>
                  <a:srgbClr val="6B7F8E"/>
                </a:solidFill>
                <a:latin typeface="Segoe UI"/>
              </a:rPr>
              <a:t>[Trafik Görseli: Motosiklet şerit</a:t>
            </a:r>
          </a:p>
          <a:p>
            <a:pPr algn="ctr">
              <a:buNone/>
            </a:pPr>
            <a:r>
              <a:rPr lang="tr-TR" sz="1400" dirty="0">
                <a:solidFill>
                  <a:srgbClr val="6B7F8E"/>
                </a:solidFill>
                <a:latin typeface="Segoe UI"/>
              </a:rPr>
              <a:t>filtreleme ile alternatif rota buluyor]</a:t>
            </a:r>
          </a:p>
        </p:txBody>
      </p:sp>
      <p:sp>
        <p:nvSpPr>
          <p:cNvPr id="28" name="BottomBox"/>
          <p:cNvSpPr/>
          <p:nvPr/>
        </p:nvSpPr>
        <p:spPr>
          <a:xfrm>
            <a:off x="355600" y="5080000"/>
            <a:ext cx="11518900" cy="1460500"/>
          </a:xfrm>
          <a:prstGeom prst="rect">
            <a:avLst/>
          </a:prstGeom>
          <a:solidFill>
            <a:srgbClr val="F0F4F8"/>
          </a:solidFill>
          <a:ln w="19050">
            <a:solidFill>
              <a:srgbClr val="2D7DD2"/>
            </a:solidFill>
          </a:ln>
        </p:spPr>
        <p:txBody>
          <a:bodyPr wrap="square" lIns="182880" tIns="91440" rIns="182880" bIns="91440" anchor="ctr"/>
          <a:lstStyle/>
          <a:p>
            <a:pPr>
              <a:buNone/>
            </a:pPr>
            <a:r>
              <a:rPr lang="tr-TR" sz="1400" dirty="0">
                <a:solidFill>
                  <a:srgbClr val="2A3444"/>
                </a:solidFill>
                <a:latin typeface="Segoe UI"/>
              </a:rPr>
              <a:t>Mevcut küresel navigasyon sistemleri, trafik yoğunluğunu binek araçların fiziksel kısıtları üzerinden modeller.</a:t>
            </a:r>
          </a:p>
          <a:p>
            <a:pPr>
              <a:buNone/>
            </a:pPr>
            <a:r>
              <a:rPr lang="tr-TR" sz="1400" dirty="0">
                <a:solidFill>
                  <a:srgbClr val="2A3444"/>
                </a:solidFill>
                <a:latin typeface="Segoe UI"/>
              </a:rPr>
              <a:t>Sonuç: </a:t>
            </a:r>
            <a:r>
              <a:rPr lang="tr-TR" sz="1400" b="1" dirty="0">
                <a:solidFill>
                  <a:srgbClr val="2A3444"/>
                </a:solidFill>
                <a:latin typeface="Segoe UI"/>
              </a:rPr>
              <a:t>Otomobiller için kilitlenmiş trafikte,</a:t>
            </a:r>
            <a:r>
              <a:rPr lang="tr-TR" sz="1400" dirty="0">
                <a:solidFill>
                  <a:srgbClr val="2A3444"/>
                </a:solidFill>
                <a:latin typeface="Segoe UI"/>
              </a:rPr>
              <a:t> motosikletler için hesaplanan </a:t>
            </a:r>
            <a:r>
              <a:rPr lang="tr-TR" sz="1400" b="1" u="sng" dirty="0">
                <a:solidFill>
                  <a:srgbClr val="2D7DD2"/>
                </a:solidFill>
                <a:latin typeface="Segoe UI"/>
              </a:rPr>
              <a:t>Tahmini Varış Sürelerinde (ETA)</a:t>
            </a:r>
          </a:p>
          <a:p>
            <a:pPr>
              <a:buNone/>
            </a:pPr>
            <a:r>
              <a:rPr lang="tr-TR" sz="1400" b="1" u="sng" dirty="0">
                <a:solidFill>
                  <a:srgbClr val="2D7DD2"/>
                </a:solidFill>
                <a:latin typeface="Segoe UI"/>
              </a:rPr>
              <a:t>%100'ü aşan algoritmik sapmalar.</a:t>
            </a:r>
          </a:p>
        </p:txBody>
      </p:sp>
      <p:sp>
        <p:nvSpPr>
          <p:cNvPr id="29" name="NotebookLM"/>
          <p:cNvSpPr/>
          <p:nvPr/>
        </p:nvSpPr>
        <p:spPr>
          <a:xfrm>
            <a:off x="10363200" y="65786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r">
              <a:buNone/>
            </a:pPr>
            <a:r>
              <a:rPr lang="en-US" sz="1000" dirty="0">
                <a:solidFill>
                  <a:srgbClr val="6B7F8E"/>
                </a:solidFill>
                <a:latin typeface="Segoe UI"/>
              </a:rPr>
              <a:t>NotebookLM</a:t>
            </a:r>
          </a:p>
        </p:txBody>
      </p:sp>
      <p:pic>
        <p:nvPicPr>
          <p:cNvPr id="30" name="Graphic 3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0" y="5156200"/>
            <a:ext cx="381000" cy="381000"/>
          </a:xfrm>
          <a:prstGeom prst="rect">
            <a:avLst/>
          </a:prstGeom>
        </p:spPr>
      </p:pic>
      <p:pic>
        <p:nvPicPr>
          <p:cNvPr id="31" name="Graphic 3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0" y="5562600"/>
            <a:ext cx="381000" cy="381000"/>
          </a:xfrm>
          <a:prstGeom prst="rect">
            <a:avLst/>
          </a:prstGeom>
        </p:spPr>
      </p:pic>
      <p:pic>
        <p:nvPicPr>
          <p:cNvPr id="32" name="Graphic 3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0" y="5969000"/>
            <a:ext cx="381000" cy="381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1B487D-5278-4C07-B5D2-91B2ABE66130}"/>
              </a:ext>
            </a:extLst>
          </p:cNvPr>
          <p:cNvSpPr/>
          <p:nvPr/>
        </p:nvSpPr>
        <p:spPr>
          <a:xfrm>
            <a:off x="6375400" y="4470400"/>
            <a:ext cx="762000" cy="254000"/>
          </a:xfrm>
          <a:prstGeom prst="roundRect">
            <a:avLst/>
          </a:prstGeom>
          <a:solidFill>
            <a:srgbClr val="2D7D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Locked</a:t>
            </a:r>
          </a:p>
        </p:txBody>
      </p:sp>
    </p:spTree>
    <p:extLst>
      <p:ext uri="{BB962C8B-B14F-4D97-AF65-F5344CB8AC3E}">
        <p14:creationId xmlns:p14="http://schemas.microsoft.com/office/powerpoint/2010/main" val="124000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F0B39-CE24-42C8-9463-7BB3ED0EC43B}"/>
              </a:ext>
            </a:extLst>
          </p:cNvPr>
          <p:cNvSpPr txBox="1"/>
          <p:nvPr/>
        </p:nvSpPr>
        <p:spPr>
          <a:xfrm>
            <a:off x="635000" y="317500"/>
            <a:ext cx="6985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F0F4F8"/>
                </a:solidFill>
                <a:latin typeface="Montserrat"/>
              </a:rPr>
              <a:t>Çözüm: Açıklanabilir Rota Zekası
ve Dijital İkiz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ADD77D-0B78-4452-ACD1-70A0FA961A45}"/>
              </a:ext>
            </a:extLst>
          </p:cNvPr>
          <p:cNvSpPr/>
          <p:nvPr/>
        </p:nvSpPr>
        <p:spPr>
          <a:xfrm>
            <a:off x="635000" y="4445000"/>
            <a:ext cx="6604000" cy="1270000"/>
          </a:xfrm>
          <a:prstGeom prst="roundRect">
            <a:avLst/>
          </a:prstGeom>
          <a:solidFill>
            <a:srgbClr val="1E293B"/>
          </a:solidFill>
          <a:ln w="2540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27DA6C-30CF-48F5-ACD8-1FAE670AA30B}"/>
              </a:ext>
            </a:extLst>
          </p:cNvPr>
          <p:cNvSpPr/>
          <p:nvPr/>
        </p:nvSpPr>
        <p:spPr>
          <a:xfrm>
            <a:off x="825500" y="4572000"/>
            <a:ext cx="533400" cy="533400"/>
          </a:xfrm>
          <a:prstGeom prst="ellipse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86F4E-3137-4A1E-BFA2-5EED6814D882}"/>
              </a:ext>
            </a:extLst>
          </p:cNvPr>
          <p:cNvSpPr txBox="1"/>
          <p:nvPr/>
        </p:nvSpPr>
        <p:spPr>
          <a:xfrm>
            <a:off x="1524000" y="45720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  <a:latin typeface="Segoe UI"/>
                <a:cs typeface="Segoe UI"/>
              </a:rPr>
              <a:t>OpenStreetMap &amp; Valhalla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DB7FE0-A820-4EF3-A802-2BB38D64E759}"/>
              </a:ext>
            </a:extLst>
          </p:cNvPr>
          <p:cNvSpPr txBox="1"/>
          <p:nvPr/>
        </p:nvSpPr>
        <p:spPr>
          <a:xfrm>
            <a:off x="1524000" y="4978400"/>
            <a:ext cx="5461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  <a:latin typeface="Segoe UI"/>
                <a:cs typeface="Segoe UI"/>
              </a:rPr>
              <a:t>Temel Yol Ağı ve Dinamik Maliyet Mimarisi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3CE289-C963-4C99-B0C3-4CCD5AD55291}"/>
              </a:ext>
            </a:extLst>
          </p:cNvPr>
          <p:cNvSpPr/>
          <p:nvPr/>
        </p:nvSpPr>
        <p:spPr>
          <a:xfrm>
            <a:off x="635000" y="2984500"/>
            <a:ext cx="6604000" cy="1270000"/>
          </a:xfrm>
          <a:prstGeom prst="roundRect">
            <a:avLst/>
          </a:prstGeom>
          <a:solidFill>
            <a:srgbClr val="1E293B"/>
          </a:solidFill>
          <a:ln w="25400" cap="flat" cmpd="sng" algn="ctr">
            <a:solidFill>
              <a:srgbClr val="06B6D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945742-ACDF-4768-9B50-3AC5EE9AA183}"/>
              </a:ext>
            </a:extLst>
          </p:cNvPr>
          <p:cNvSpPr/>
          <p:nvPr/>
        </p:nvSpPr>
        <p:spPr>
          <a:xfrm>
            <a:off x="825500" y="3111500"/>
            <a:ext cx="533400" cy="533400"/>
          </a:xfrm>
          <a:prstGeom prst="ellipse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A3088-114B-40A2-B6F6-6E1549DD31C1}"/>
              </a:ext>
            </a:extLst>
          </p:cNvPr>
          <p:cNvSpPr txBox="1"/>
          <p:nvPr/>
        </p:nvSpPr>
        <p:spPr>
          <a:xfrm>
            <a:off x="1524000" y="31115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  <a:latin typeface="Segoe UI"/>
                <a:cs typeface="Segoe UI"/>
              </a:rPr>
              <a:t>MOTOMAP Zeka Katmanı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D1C7E1-2A2E-44B5-8C8B-46193CD4377D}"/>
              </a:ext>
            </a:extLst>
          </p:cNvPr>
          <p:cNvSpPr txBox="1"/>
          <p:nvPr/>
        </p:nvSpPr>
        <p:spPr>
          <a:xfrm>
            <a:off x="1524000" y="3517900"/>
            <a:ext cx="5461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  <a:latin typeface="Segoe UI"/>
                <a:cs typeface="Segoe UI"/>
              </a:rPr>
              <a:t>Şerit Filtreleme, Eğim Analizi, Viraj Endeksi (Curviness)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36C044-1594-4A32-A144-F14F5C2678C7}"/>
              </a:ext>
            </a:extLst>
          </p:cNvPr>
          <p:cNvSpPr/>
          <p:nvPr/>
        </p:nvSpPr>
        <p:spPr>
          <a:xfrm>
            <a:off x="635000" y="1524000"/>
            <a:ext cx="6604000" cy="1270000"/>
          </a:xfrm>
          <a:prstGeom prst="roundRect">
            <a:avLst/>
          </a:prstGeom>
          <a:solidFill>
            <a:srgbClr val="1E293B"/>
          </a:solidFill>
          <a:ln w="25400" cap="flat" cmpd="sng" algn="ctr">
            <a:solidFill>
              <a:srgbClr val="10B9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A9C160-2317-4142-9CCE-C1EDDF3ABE4A}"/>
              </a:ext>
            </a:extLst>
          </p:cNvPr>
          <p:cNvSpPr/>
          <p:nvPr/>
        </p:nvSpPr>
        <p:spPr>
          <a:xfrm>
            <a:off x="825500" y="1651000"/>
            <a:ext cx="533400" cy="5334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9566A9-A97C-42D6-802D-7100C06D21FE}"/>
              </a:ext>
            </a:extLst>
          </p:cNvPr>
          <p:cNvSpPr txBox="1"/>
          <p:nvPr/>
        </p:nvSpPr>
        <p:spPr>
          <a:xfrm>
            <a:off x="1524000" y="16510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0F4F8"/>
                </a:solidFill>
                <a:latin typeface="Segoe UI"/>
                <a:cs typeface="Segoe UI"/>
              </a:rPr>
              <a:t>Sosyal &amp; Dijital İkiz (P2P)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C80457-D07B-44C5-A3E0-52ABEC456EC3}"/>
              </a:ext>
            </a:extLst>
          </p:cNvPr>
          <p:cNvSpPr txBox="1"/>
          <p:nvPr/>
        </p:nvSpPr>
        <p:spPr>
          <a:xfrm>
            <a:off x="1524000" y="2057400"/>
            <a:ext cx="5461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94A3B8"/>
                </a:solidFill>
                <a:latin typeface="Segoe UI"/>
                <a:cs typeface="Segoe UI"/>
              </a:rPr>
              <a:t>Kullanıcı Profili, Canlı SOS Radarı, Bağlamsal Güvenlik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883B80AB-B89B-4AA8-8796-EC636087D3E0}"/>
              </a:ext>
            </a:extLst>
          </p:cNvPr>
          <p:cNvSpPr/>
          <p:nvPr/>
        </p:nvSpPr>
        <p:spPr>
          <a:xfrm>
            <a:off x="3556000" y="3937000"/>
            <a:ext cx="304800" cy="381000"/>
          </a:xfrm>
          <a:prstGeom prst="upArrow">
            <a:avLst/>
          </a:prstGeom>
          <a:solidFill>
            <a:srgbClr val="06B6D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A16F9CA0-FC25-44E6-A291-5941CE41396A}"/>
              </a:ext>
            </a:extLst>
          </p:cNvPr>
          <p:cNvSpPr/>
          <p:nvPr/>
        </p:nvSpPr>
        <p:spPr>
          <a:xfrm>
            <a:off x="3556000" y="2476500"/>
            <a:ext cx="304800" cy="381000"/>
          </a:xfrm>
          <a:prstGeom prst="upArrow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8E2A3E-611D-483E-B934-B9E18A245357}"/>
              </a:ext>
            </a:extLst>
          </p:cNvPr>
          <p:cNvSpPr/>
          <p:nvPr/>
        </p:nvSpPr>
        <p:spPr>
          <a:xfrm>
            <a:off x="7620000" y="1524000"/>
            <a:ext cx="4191000" cy="4191000"/>
          </a:xfrm>
          <a:prstGeom prst="roundRect">
            <a:avLst/>
          </a:prstGeom>
          <a:solidFill>
            <a:srgbClr val="1E293B"/>
          </a:solidFill>
          <a:ln w="12700" cap="flat" cmpd="sng" algn="ctr">
            <a:solidFill>
              <a:srgbClr val="3341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0076D2-1118-48DD-9E84-A8FDA4B78DF2}"/>
              </a:ext>
            </a:extLst>
          </p:cNvPr>
          <p:cNvSpPr txBox="1"/>
          <p:nvPr/>
        </p:nvSpPr>
        <p:spPr>
          <a:xfrm>
            <a:off x="7810500" y="1778000"/>
            <a:ext cx="3810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CBD5E1"/>
                </a:solidFill>
                <a:latin typeface="Segoe UI"/>
                <a:cs typeface="Segoe UI"/>
              </a:rPr>
              <a:t>Sadece A'dan B'ye giden bir çizgi değil:
Sürücüyü, aracı ve coğrafi riskleri eşzamanlı hesaplayan entegre bir karar destek sistemi.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1E9352-9FCE-44EF-A470-59001552BF63}"/>
              </a:ext>
            </a:extLst>
          </p:cNvPr>
          <p:cNvSpPr txBox="1"/>
          <p:nvPr/>
        </p:nvSpPr>
        <p:spPr>
          <a:xfrm>
            <a:off x="7810500" y="41910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0B981"/>
                </a:solidFill>
                <a:latin typeface="Segoe UI"/>
                <a:cs typeface="Segoe UI"/>
              </a:rPr>
              <a:t>✓ Açıklanabilir 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0D61F3-546B-4342-82D0-DD1CFA9AE821}"/>
              </a:ext>
            </a:extLst>
          </p:cNvPr>
          <p:cNvSpPr txBox="1"/>
          <p:nvPr/>
        </p:nvSpPr>
        <p:spPr>
          <a:xfrm>
            <a:off x="7810500" y="45974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0B981"/>
                </a:solidFill>
                <a:latin typeface="Segoe UI"/>
                <a:cs typeface="Segoe UI"/>
              </a:rPr>
              <a:t>✓ Gerçek zamanlı veri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CE63D5-3916-45BA-AD10-3EE49D090784}"/>
              </a:ext>
            </a:extLst>
          </p:cNvPr>
          <p:cNvSpPr txBox="1"/>
          <p:nvPr/>
        </p:nvSpPr>
        <p:spPr>
          <a:xfrm>
            <a:off x="7810500" y="50038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0B981"/>
                </a:solidFill>
                <a:latin typeface="Segoe UI"/>
                <a:cs typeface="Segoe UI"/>
              </a:rPr>
              <a:t>✓ Topluluk odaklı</a:t>
            </a:r>
          </a:p>
        </p:txBody>
      </p:sp>
    </p:spTree>
    <p:extLst>
      <p:ext uri="{BB962C8B-B14F-4D97-AF65-F5344CB8AC3E}">
        <p14:creationId xmlns:p14="http://schemas.microsoft.com/office/powerpoint/2010/main" val="2645232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TOMAP">
      <a:dk1>
        <a:srgbClr val="F0F4F8"/>
      </a:dk1>
      <a:lt1>
        <a:srgbClr val="0F172A"/>
      </a:lt1>
      <a:dk2>
        <a:srgbClr val="CBD5E1"/>
      </a:dk2>
      <a:lt2>
        <a:srgbClr val="1E293B"/>
      </a:lt2>
      <a:accent1>
        <a:srgbClr val="3B82F6"/>
      </a:accent1>
      <a:accent2>
        <a:srgbClr val="06B6D4"/>
      </a:accent2>
      <a:accent3>
        <a:srgbClr val="10B981"/>
      </a:accent3>
      <a:accent4>
        <a:srgbClr val="F59E0B"/>
      </a:accent4>
      <a:accent5>
        <a:srgbClr val="8B5CF6"/>
      </a:accent5>
      <a:accent6>
        <a:srgbClr val="EF4444"/>
      </a:accent6>
      <a:hlink>
        <a:srgbClr val="467886"/>
      </a:hlink>
      <a:folHlink>
        <a:srgbClr val="96607D"/>
      </a:folHlink>
    </a:clrScheme>
    <a:fontScheme name="MOTOMAP Fonts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16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087EA-5B06-449A-BB77-1723E709160D}">
  <we:reference id="wa200010001" version="1.0.0.1" store="en-US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197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Montserrat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2026-03-15T11:42:17Z</dcterms:created>
  <dcterms:modified xsi:type="dcterms:W3CDTF">2026-03-15T12:31:57Z</dcterms:modified>
</cp:coreProperties>
</file>